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c0dbf0a06a4761" /><Relationship Type="http://schemas.openxmlformats.org/officeDocument/2006/relationships/extended-properties" Target="/docProps/app.xml" Id="R1143b7949f1c4cba" /><Relationship Type="http://schemas.openxmlformats.org/officeDocument/2006/relationships/officeDocument" Target="/ppt/presentation.xml" Id="R04a8d8f59ee7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625a48fa64544"/>
  </p:sldMasterIdLst>
  <p:notesMasterIdLst>
    <p:notesMasterId xmlns:r="http://schemas.openxmlformats.org/officeDocument/2006/relationships" r:id="R1c8d7d5442574f23"/>
  </p:notesMasterIdLst>
  <p:sldIdLst>
    <p:sldId xmlns:r="http://schemas.openxmlformats.org/officeDocument/2006/relationships" id="256" r:id="R236b74bb280c4013"/>
    <p:sldId xmlns:r="http://schemas.openxmlformats.org/officeDocument/2006/relationships" id="257" r:id="Rfd78ae8b4755409c"/>
    <p:sldId xmlns:r="http://schemas.openxmlformats.org/officeDocument/2006/relationships" id="258" r:id="Rf789e5a0ed244d56"/>
    <p:sldId xmlns:r="http://schemas.openxmlformats.org/officeDocument/2006/relationships" id="259" r:id="Rf3cf8be734324282"/>
    <p:sldId xmlns:r="http://schemas.openxmlformats.org/officeDocument/2006/relationships" id="260" r:id="Rd4e8b007eba64504"/>
    <p:sldId xmlns:r="http://schemas.openxmlformats.org/officeDocument/2006/relationships" id="261" r:id="R1adcdc183fa947ff"/>
    <p:sldId xmlns:r="http://schemas.openxmlformats.org/officeDocument/2006/relationships" id="262" r:id="R194d2f5fd09545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1be03136d24805" /><Relationship Type="http://schemas.openxmlformats.org/officeDocument/2006/relationships/slideMaster" Target="/ppt/slideMasters/slideMaster1.xml" Id="Rcf8625a48fa64544" /><Relationship Type="http://schemas.openxmlformats.org/officeDocument/2006/relationships/notesMaster" Target="/ppt/notesMasters/notesMaster1.xml" Id="R1c8d7d5442574f23" /><Relationship Type="http://schemas.openxmlformats.org/officeDocument/2006/relationships/presProps" Target="/ppt/presProps.xml" Id="R234074afd8ff4c06" /><Relationship Type="http://schemas.openxmlformats.org/officeDocument/2006/relationships/tableStyles" Target="/ppt/tableStyles.xml" Id="R45d9cb5b6ef84239" /><Relationship Type="http://schemas.openxmlformats.org/officeDocument/2006/relationships/slide" Target="/ppt/slides/slide1.xml" Id="R236b74bb280c4013" /><Relationship Type="http://schemas.openxmlformats.org/officeDocument/2006/relationships/slide" Target="/ppt/slides/slide2.xml" Id="Rfd78ae8b4755409c" /><Relationship Type="http://schemas.openxmlformats.org/officeDocument/2006/relationships/slide" Target="/ppt/slides/slide3.xml" Id="Rf789e5a0ed244d56" /><Relationship Type="http://schemas.openxmlformats.org/officeDocument/2006/relationships/slide" Target="/ppt/slides/slide4.xml" Id="Rf3cf8be734324282" /><Relationship Type="http://schemas.openxmlformats.org/officeDocument/2006/relationships/slide" Target="/ppt/slides/slide5.xml" Id="Rd4e8b007eba64504" /><Relationship Type="http://schemas.openxmlformats.org/officeDocument/2006/relationships/slide" Target="/ppt/slides/slide6.xml" Id="R1adcdc183fa947ff" /><Relationship Type="http://schemas.openxmlformats.org/officeDocument/2006/relationships/slide" Target="/ppt/slides/slide7.xml" Id="R194d2f5fd09545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bfc7c1f4f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e54e26778481b" /><Relationship Type="http://schemas.openxmlformats.org/officeDocument/2006/relationships/notesMaster" Target="/ppt/notesMasters/notesMaster1.xml" Id="R0e2524fac2d44e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0fcf218d1c4056" /><Relationship Type="http://schemas.openxmlformats.org/officeDocument/2006/relationships/notesMaster" Target="/ppt/notesMasters/notesMaster1.xml" Id="R3f3b0125c77847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affe0fe9014a1e" /><Relationship Type="http://schemas.openxmlformats.org/officeDocument/2006/relationships/notesMaster" Target="/ppt/notesMasters/notesMaster1.xml" Id="R714b6ae36c4c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afe28fd4d3417e" /><Relationship Type="http://schemas.openxmlformats.org/officeDocument/2006/relationships/notesMaster" Target="/ppt/notesMasters/notesMaster1.xml" Id="R9bd6b8c3912740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3f67ea321e468c" /><Relationship Type="http://schemas.openxmlformats.org/officeDocument/2006/relationships/notesMaster" Target="/ppt/notesMasters/notesMaster1.xml" Id="Ra3a850b5f7df41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2c8455644494f" /><Relationship Type="http://schemas.openxmlformats.org/officeDocument/2006/relationships/notesMaster" Target="/ppt/notesMasters/notesMaster1.xml" Id="R6fe1995f0eb849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050ef356e747e3" /><Relationship Type="http://schemas.openxmlformats.org/officeDocument/2006/relationships/notesMaster" Target="/ppt/notesMasters/notesMaster1.xml" Id="Rb53dc867081d48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claim: Autonomy for evidence gathering, not financial authority. Track 4; deployed on Alibaba ECS; MIT-licensed. Repository asset: demo/thumbnail.png.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Problem/solution framing. No claim that the classifier detects every attack; the consequence boundary is enforced by tool separation and authenticated state transitions.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provenance: demo/final-media/judge-architecture.jpg. The model catalog has proposal/read tools only; HTTP reviewer APIs own approve, amend and reject.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canonical live captures show intake reaching PENDING, an authenticated exact-argument amendment, and a correction influencing a later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impact/RESULTS.md. Manual indexed baseline 100; assisted base active-review index 36.5 (63.5% lower); modeled human checkpoints index 58.0 (42% lower). The 12-case authored/synthetic boundary is shown on-slide.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Hosted load source: load/RESULTS_2026-07-15.md. The on-slide row explicitly says Fake-Qwen/in-memory. Coverage, CodeQL and image/SBOM evidence are green on the latest submission-source gate. The deployed runtime remains 030950e9b1e2353ee64f422ad050feb9733745bc. The clean public capture-source HEAD is 51f73aebd7fcf25dce6afde472cdbcdfb7dbdcca; the later final submitted HEAD is linked separately after media/deck commits.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closing claim resolves the opening tension: Qwen has autonomy to gather evidence, while financial consequences remain under authenticated human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b9ea1067546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ba6cfc8314fa6" /><Relationship Type="http://schemas.openxmlformats.org/officeDocument/2006/relationships/slideLayout" Target="/ppt/slideLayouts/slideLayout1.xml" Id="R706cdc9c79f9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6cdc9c79f9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297cf0c1f45e1" /><Relationship Type="http://schemas.openxmlformats.org/officeDocument/2006/relationships/image" Target="/ppt/media/image.png" Id="Rc19f6e6ea7674b3b" /><Relationship Type="http://schemas.openxmlformats.org/officeDocument/2006/relationships/notesSlide" Target="/ppt/notesSlides/notesSlide1.xml" Id="Re54a2cce8d4f4f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73555540d4178" /><Relationship Type="http://schemas.openxmlformats.org/officeDocument/2006/relationships/notesSlide" Target="/ppt/notesSlides/notesSlide2.xml" Id="R9fc12061d6f140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4ba64a7946b4" /><Relationship Type="http://schemas.openxmlformats.org/officeDocument/2006/relationships/image" Target="/ppt/media/image.jpeg" Id="R9d87bd0a43e446d9" /><Relationship Type="http://schemas.openxmlformats.org/officeDocument/2006/relationships/notesSlide" Target="/ppt/notesSlides/notesSlide3.xml" Id="Refceee08815144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e5501cf5d41d9" /><Relationship Type="http://schemas.openxmlformats.org/officeDocument/2006/relationships/image" Target="/ppt/media/image2.png" Id="R9c52c68030ef4634" /><Relationship Type="http://schemas.openxmlformats.org/officeDocument/2006/relationships/image" Target="/ppt/media/image3.png" Id="R67101e1a82cf4527" /><Relationship Type="http://schemas.openxmlformats.org/officeDocument/2006/relationships/image" Target="/ppt/media/image4.png" Id="R138b708789fb4336" /><Relationship Type="http://schemas.openxmlformats.org/officeDocument/2006/relationships/notesSlide" Target="/ppt/notesSlides/notesSlide4.xml" Id="R449f2b67ec43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6eb43e87b461c" /><Relationship Type="http://schemas.openxmlformats.org/officeDocument/2006/relationships/notesSlide" Target="/ppt/notesSlides/notesSlide5.xml" Id="Rb1287d095caf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c65ea1c104743" /><Relationship Type="http://schemas.openxmlformats.org/officeDocument/2006/relationships/notesSlide" Target="/ppt/notesSlides/notesSlide6.xml" Id="Rabd2121f52704e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0a1d7a51c4c42" /><Relationship Type="http://schemas.openxmlformats.org/officeDocument/2006/relationships/notesSlide" Target="/ppt/notesSlides/notesSlide7.xml" Id="Rb5b0189232b14f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4764D18-A11F-45A9-A70E-A9A9EE4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QWEN CLOUD HACKATHON · TRACK 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4B1085-E746-4E35-83A9-74521F59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0101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Archon
Autopilot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4E453E0-F876-4158-A5F1-D95A21E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4953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A Qwen AP agent that gathers evidence autonomously, but cannot move money on its own.</a:t>
            </a:r>
          </a:p>
        </p:txBody>
      </p:sp>
      <p:cxnSp>
        <p:nvCxnSpPr>
          <p:cNvPr id="12" name="cover-accent-rule"/>
          <p:cNvCxnSpPr/>
          <p:nvPr/>
        </p:nvCxnSpPr>
        <p:spPr>
          <a:xfrm xmlns:a="http://schemas.openxmlformats.org/drawingml/2006/main">
            <a:off x="400050" y="4495800"/>
            <a:ext cx="1524000" cy="286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D8DFF"/>
            </a:solidFill>
            <a:prstDash val="solid"/>
          </a:ln>
        </p:spPr>
      </p:cxn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A1EB6420-36A7-4DC2-BA39-ED5EADDA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QWEN CLOUD · LIVE ALIBABA ECS · MIT</a:t>
            </a:r>
          </a:p>
        </p:txBody>
      </p:sp>
      <p:sp>
        <p:nvSpPr>
          <p:cNvPr id="6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C03AAEEC-70B4-4650-9BDD-74D95698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8775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74"/>
                </a:solidFill>
                <a:latin typeface="Arial"/>
                <a:ea typeface="Arial"/>
                <a:cs typeface="Arial"/>
              </a:defRPr>
            </a:pPr>
            <a:r>
              <a:t>Qwen proposes. Human decides.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F60BC544-81C8-4E35-863B-79206646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350"/>
            <a:ext cx="5734050" cy="5448300"/>
          </a:xfrm>
          <a:prstGeom xmlns:a="http://schemas.openxmlformats.org/drawingml/2006/main" prst="roundRect">
            <a:avLst>
              <a:gd name="adj" fmla="val 1399"/>
            </a:avLst>
          </a:prstGeom>
          <a:solidFill xmlns:a="http://schemas.openxmlformats.org/drawingml/2006/main">
            <a:srgbClr val="0B1425"/>
          </a:solidFill>
          <a:ln xmlns:a="http://schemas.openxmlformats.org/drawingml/2006/main" w="9525">
            <a:solidFill>
              <a:srgbClr val="20304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f6e6ea7674b3b"/>
          <a:stretch xmlns:a="http://schemas.openxmlformats.org/drawingml/2006/main"/>
        </p:blipFill>
        <p:spPr>
          <a:xfrm xmlns:a="http://schemas.openxmlformats.org/drawingml/2006/main">
            <a:off x="6191250" y="1416050"/>
            <a:ext cx="5467350" cy="364490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</p:spTree>
    <p:extLst>
      <p:ext uri="{BB962C8B-B14F-4D97-AF65-F5344CB8AC3E}">
        <p14:creationId xmlns:p14="http://schemas.microsoft.com/office/powerpoint/2010/main" val="1574575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A667E514-9539-4383-9A49-3DC7641B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AP automation is valuable only if authority stays human.</a:t>
            </a:r>
          </a:p>
        </p:txBody>
      </p:sp>
      <p:sp>
        <p:nvSpPr>
          <p:cNvPr id="2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2AB3E2D8-A553-41D0-AD3E-2DBF2F5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Invoices are untrusted inputs, but payment consequences are real.</a:t>
            </a:r>
          </a:p>
        </p:txBody>
      </p:sp>
      <p:sp>
        <p:nvSpPr>
          <p:cNvPr id="3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BB6F08F9-B2A2-4FDD-B868-43401FF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3911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5B7B1"/>
            </a:solidFill>
            <a:prstDash val="solid"/>
          </a:ln>
        </p:spPr>
      </p:sp>
      <p:sp>
        <p:nvSpPr>
          <p:cNvPr id="4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1C440F1B-E414-4ADF-AC44-FA29E556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3911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9FF"/>
            </a:solidFill>
            <a:prstDash val="solid"/>
          </a:ln>
        </p:spPr>
      </p:sp>
      <p:sp>
        <p:nvSpPr>
          <p:cNvPr id="5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5CD1D519-496B-4634-8B94-6E759D14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t>THE AP INBOX</a:t>
            </a:r>
          </a:p>
        </p:txBody>
      </p:sp>
      <p:sp>
        <p:nvSpPr>
          <p:cNvPr id="6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8651D175-C28E-4663-8A9C-CD50DB36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Messy, untrusted invoices</a:t>
            </a:r>
          </a:p>
        </p:txBody>
      </p:sp>
      <p:sp>
        <p:nvSpPr>
          <p:cNvPr id="7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1CE4AAC1-F841-4F50-B301-EF2BFEDA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5529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• Duplicate and overbilling risk
• Evidence scattered across history
• Manual review and re-keying
• A wrong action can move real money</a:t>
            </a:r>
          </a:p>
        </p:txBody>
      </p:sp>
      <p:sp>
        <p:nvSpPr>
          <p:cNvPr id="8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B3647BB0-6CE9-49AB-B7B4-07719565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ARCHON AUTOPILOT</a:t>
            </a:r>
          </a:p>
        </p:txBody>
      </p:sp>
      <p:sp>
        <p:nvSpPr>
          <p:cNvPr id="9" name="solution-heading">
            <a:extLst xmlns:a="http://schemas.openxmlformats.org/drawingml/2006/main">
              <a:ext uri="{FF2B5EF4-FFF2-40B4-BE49-F238E27FC236}">
                <a16:creationId xmlns:a16="http://schemas.microsoft.com/office/drawing/2014/main" id="{90E53ABA-E4DB-4D44-8E44-B5BB10DA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Evidence autonomy, bounded consequence</a:t>
            </a:r>
          </a:p>
        </p:txBody>
      </p:sp>
      <p:sp>
        <p:nvSpPr>
          <p:cNvPr id="10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BE81DECC-DF5D-4AC6-AC54-D2176AFC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6291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• qwen-vl reads the document
• A bounded Qwen loop recalls and checks
• Exactly one PENDING proposal is created
• A human approves the exact arguments</a:t>
            </a:r>
          </a:p>
        </p:txBody>
      </p:sp>
      <p:sp>
        <p:nvSpPr>
          <p:cNvPr id="11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2B317BBF-B96D-4854-AFE4-858D012B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57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74"/>
                </a:solidFill>
                <a:latin typeface="Arial"/>
                <a:ea typeface="Arial"/>
                <a:cs typeface="Arial"/>
              </a:defRPr>
            </a:pPr>
            <a:r>
              <a:t>The model recommends. The authenticated human owns the consequence.</a:t>
            </a:r>
          </a:p>
        </p:txBody>
      </p:sp>
      <p:cxnSp>
        <p:nvCxnSpPr>
          <p:cNvPr id="26" name="footer-rule-2"/>
          <p:cNvCxnSpPr/>
          <p:nvPr/>
        </p:nvCxnSpPr>
        <p:spPr>
          <a:xfrm xmlns:a="http://schemas.openxmlformats.org/drawingml/2006/main">
            <a:off x="400050" y="62865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86BD97DA-F22A-4406-A9F8-B011D3C6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Source: repository workflow, model tool catalog and human-gate contract · build 030950e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1B9BA390-10C3-4091-AF7F-200B1EB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389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6751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CC7FAB8F-3069-43FC-99B0-604F8FB6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"/>
            <a:ext cx="117348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0B1118"/>
          </a:solidFill>
          <a:ln xmlns:a="http://schemas.openxmlformats.org/drawingml/2006/main" w="9525">
            <a:solidFill>
              <a:srgbClr val="0B1118"/>
            </a:solidFill>
            <a:prstDash val="solid"/>
          </a:ln>
        </p:spPr>
      </p:sp>
      <p:sp>
        <p:nvSpPr>
          <p:cNvPr id="2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B9F2FD3E-4268-48FC-8259-3AFD4C26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24600"/>
            <a:ext cx="1173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07109F51-6599-4604-92B3-7555563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00800"/>
            <a:ext cx="1104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Agentic reasoning lives inside a deterministic approval workflow.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2C99D93-BD3A-496B-91B4-2D0AAFCE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389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7bd0a43e446d9"/>
          <a:stretch xmlns:a="http://schemas.openxmlformats.org/drawingml/2006/main"/>
        </p:blipFill>
        <p:spPr>
          <a:xfrm xmlns:a="http://schemas.openxmlformats.org/drawingml/2006/main">
            <a:off x="762000" y="247650"/>
            <a:ext cx="10668000" cy="600075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</p:spTree>
    <p:extLst>
      <p:ext uri="{BB962C8B-B14F-4D97-AF65-F5344CB8AC3E}">
        <p14:creationId xmlns:p14="http://schemas.microsoft.com/office/powerpoint/2010/main" val="868645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6F56E4AF-2394-4EE8-85B0-A8F694C0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The agent earns autonomy - then stops.</a:t>
            </a:r>
          </a:p>
        </p:txBody>
      </p:sp>
      <p:sp>
        <p:nvSpPr>
          <p:cNvPr id="2" name="workflow-lead">
            <a:extLst xmlns:a="http://schemas.openxmlformats.org/drawingml/2006/main">
              <a:ext uri="{FF2B5EF4-FFF2-40B4-BE49-F238E27FC236}">
                <a16:creationId xmlns:a16="http://schemas.microsoft.com/office/drawing/2014/main" id="{5896F56A-A906-499C-80CD-5AE93C0E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One visible path from untrusted invoice to durable human decision.</a:t>
            </a:r>
          </a:p>
        </p:txBody>
      </p:sp>
      <p:cxnSp>
        <p:nvCxnSpPr>
          <p:cNvPr id="24" name="workflow-line"/>
          <p:cNvCxnSpPr/>
          <p:nvPr/>
        </p:nvCxnSpPr>
        <p:spPr>
          <a:xfrm xmlns:a="http://schemas.openxmlformats.org/drawingml/2006/main">
            <a:off x="514350" y="1714500"/>
            <a:ext cx="10572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4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6D331898-56AB-4971-A834-C8AD7F9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F5D5E0B5-7AB2-423E-91A9-7100D0EC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5F4F3863-2867-4081-A2AB-F601ABA8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label-1">
            <a:extLst xmlns:a="http://schemas.openxmlformats.org/drawingml/2006/main">
              <a:ext uri="{FF2B5EF4-FFF2-40B4-BE49-F238E27FC236}">
                <a16:creationId xmlns:a16="http://schemas.microsoft.com/office/drawing/2014/main" id="{8E0D9443-CEB0-45AF-886E-E5C0F4CB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 · SEE + REASON</a:t>
            </a:r>
          </a:p>
        </p:txBody>
      </p:sp>
      <p:sp>
        <p:nvSpPr>
          <p:cNvPr id="8" name="workflow-label-2">
            <a:extLst xmlns:a="http://schemas.openxmlformats.org/drawingml/2006/main">
              <a:ext uri="{FF2B5EF4-FFF2-40B4-BE49-F238E27FC236}">
                <a16:creationId xmlns:a16="http://schemas.microsoft.com/office/drawing/2014/main" id="{868BF6DB-204F-4920-A0C0-6CEE4817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8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t>02 · STOP AT PENDING</a:t>
            </a:r>
          </a:p>
        </p:txBody>
      </p:sp>
      <p:sp>
        <p:nvSpPr>
          <p:cNvPr id="9" name="workflow-label-3">
            <a:extLst xmlns:a="http://schemas.openxmlformats.org/drawingml/2006/main">
              <a:ext uri="{FF2B5EF4-FFF2-40B4-BE49-F238E27FC236}">
                <a16:creationId xmlns:a16="http://schemas.microsoft.com/office/drawing/2014/main" id="{0468BB1A-091A-4FE3-8EA3-3CCD835D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695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F74"/>
                </a:solidFill>
                <a:latin typeface="Arial"/>
                <a:ea typeface="Arial"/>
                <a:cs typeface="Arial"/>
              </a:defRPr>
            </a:pPr>
            <a:r>
              <a:t>03 · HUMAN DECIDES + MEMORY</a:t>
            </a:r>
          </a:p>
        </p:txBody>
      </p:sp>
      <p:sp>
        <p:nvSpPr>
          <p:cNvPr id="10" name="workflow-image-frame-1">
            <a:extLst xmlns:a="http://schemas.openxmlformats.org/drawingml/2006/main">
              <a:ext uri="{FF2B5EF4-FFF2-40B4-BE49-F238E27FC236}">
                <a16:creationId xmlns:a16="http://schemas.microsoft.com/office/drawing/2014/main" id="{48C43634-8932-4892-826F-D951E349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486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workflow-image-frame-2">
            <a:extLst xmlns:a="http://schemas.openxmlformats.org/drawingml/2006/main">
              <a:ext uri="{FF2B5EF4-FFF2-40B4-BE49-F238E27FC236}">
                <a16:creationId xmlns:a16="http://schemas.microsoft.com/office/drawing/2014/main" id="{B7F25B62-A29D-4BDD-9214-EA30A4D2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3486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workflow-image-frame-3">
            <a:extLst xmlns:a="http://schemas.openxmlformats.org/drawingml/2006/main">
              <a:ext uri="{FF2B5EF4-FFF2-40B4-BE49-F238E27FC236}">
                <a16:creationId xmlns:a16="http://schemas.microsoft.com/office/drawing/2014/main" id="{165F2A4D-770D-4EEB-B6C7-FFDD6CFC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486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workflow-caption-1">
            <a:extLst xmlns:a="http://schemas.openxmlformats.org/drawingml/2006/main">
              <a:ext uri="{FF2B5EF4-FFF2-40B4-BE49-F238E27FC236}">
                <a16:creationId xmlns:a16="http://schemas.microsoft.com/office/drawing/2014/main" id="{EE73C63E-D26D-4010-AA2E-DE12749B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Qwen reads, recalls and checks</a:t>
            </a:r>
          </a:p>
        </p:txBody>
      </p:sp>
      <p:sp>
        <p:nvSpPr>
          <p:cNvPr id="14" name="workflow-caption-2">
            <a:extLst xmlns:a="http://schemas.openxmlformats.org/drawingml/2006/main">
              <a:ext uri="{FF2B5EF4-FFF2-40B4-BE49-F238E27FC236}">
                <a16:creationId xmlns:a16="http://schemas.microsoft.com/office/drawing/2014/main" id="{7398879E-B136-44C2-8DE4-6CE4091B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 durable proposal waits</a:t>
            </a:r>
          </a:p>
        </p:txBody>
      </p:sp>
      <p:sp>
        <p:nvSpPr>
          <p:cNvPr id="15" name="workflow-caption-3">
            <a:extLst xmlns:a="http://schemas.openxmlformats.org/drawingml/2006/main">
              <a:ext uri="{FF2B5EF4-FFF2-40B4-BE49-F238E27FC236}">
                <a16:creationId xmlns:a16="http://schemas.microsoft.com/office/drawing/2014/main" id="{5CCA1D88-4401-46E7-BDD3-5A6B205C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486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Amendment becomes future evidence</a:t>
            </a:r>
          </a:p>
        </p:txBody>
      </p:sp>
      <p:cxnSp>
        <p:nvCxnSpPr>
          <p:cNvPr id="37" name="footer-rule-4"/>
          <p:cNvCxnSpPr/>
          <p:nvPr/>
        </p:nvCxnSpPr>
        <p:spPr>
          <a:xfrm xmlns:a="http://schemas.openxmlformats.org/drawingml/2006/main">
            <a:off x="400050" y="62865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7" name="source-4">
            <a:extLst xmlns:a="http://schemas.openxmlformats.org/drawingml/2006/main">
              <a:ext uri="{FF2B5EF4-FFF2-40B4-BE49-F238E27FC236}">
                <a16:creationId xmlns:a16="http://schemas.microsoft.com/office/drawing/2014/main" id="{D0919D12-279F-48D5-8E15-5988474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Live gallery evidence: intake → PENDING · exact-argument amend diff · correction affects later decision</a:t>
            </a:r>
          </a:p>
        </p:txBody>
      </p:sp>
      <p:sp>
        <p:nvSpPr>
          <p:cNvPr id="18" name="page-4">
            <a:extLst xmlns:a="http://schemas.openxmlformats.org/drawingml/2006/main">
              <a:ext uri="{FF2B5EF4-FFF2-40B4-BE49-F238E27FC236}">
                <a16:creationId xmlns:a16="http://schemas.microsoft.com/office/drawing/2014/main" id="{C2DB8917-B341-4C60-8BE8-C8BB67C2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389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2c68030ef4634"/>
          <a:stretch xmlns:a="http://schemas.openxmlformats.org/drawingml/2006/main"/>
        </p:blipFill>
        <p:spPr>
          <a:xfrm xmlns:a="http://schemas.openxmlformats.org/drawingml/2006/main">
            <a:off x="476250" y="2432050"/>
            <a:ext cx="3333750" cy="22225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01e1a82cf4527"/>
          <a:stretch xmlns:a="http://schemas.openxmlformats.org/drawingml/2006/main"/>
        </p:blipFill>
        <p:spPr>
          <a:xfrm xmlns:a="http://schemas.openxmlformats.org/drawingml/2006/main">
            <a:off x="4324350" y="2432050"/>
            <a:ext cx="3333750" cy="22225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b708789fb4336"/>
          <a:stretch xmlns:a="http://schemas.openxmlformats.org/drawingml/2006/main"/>
        </p:blipFill>
        <p:spPr>
          <a:xfrm xmlns:a="http://schemas.openxmlformats.org/drawingml/2006/main">
            <a:off x="8172450" y="2432050"/>
            <a:ext cx="3333750" cy="22225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</p:spTree>
    <p:extLst>
      <p:ext uri="{BB962C8B-B14F-4D97-AF65-F5344CB8AC3E}">
        <p14:creationId xmlns:p14="http://schemas.microsoft.com/office/powerpoint/2010/main" val="917407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31F0517E-E019-47E0-A73C-EB2726E9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Within the authored workflow model, active review falls from 100 to 36.5.</a:t>
            </a:r>
          </a:p>
        </p:txBody>
      </p:sp>
      <p:sp>
        <p:nvSpPr>
          <p:cNvPr id="2" name="impact-chart-label">
            <a:extLst xmlns:a="http://schemas.openxmlformats.org/drawingml/2006/main">
              <a:ext uri="{FF2B5EF4-FFF2-40B4-BE49-F238E27FC236}">
                <a16:creationId xmlns:a16="http://schemas.microsoft.com/office/drawing/2014/main" id="{0438A03E-922F-4AB7-AEB6-BC497972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Indexed effort and checkpoints · manual baseline = 100</a:t>
            </a:r>
          </a:p>
        </p:txBody>
      </p:sp>
      <p:sp>
        <p:nvSpPr>
          <p:cNvPr id="3" name="impact-card-1">
            <a:extLst xmlns:a="http://schemas.openxmlformats.org/drawingml/2006/main">
              <a:ext uri="{FF2B5EF4-FFF2-40B4-BE49-F238E27FC236}">
                <a16:creationId xmlns:a16="http://schemas.microsoft.com/office/drawing/2014/main" id="{997AD649-0894-4F2E-8EB8-125B95D8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90650"/>
            <a:ext cx="5391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mpact-card-2">
            <a:extLst xmlns:a="http://schemas.openxmlformats.org/drawingml/2006/main">
              <a:ext uri="{FF2B5EF4-FFF2-40B4-BE49-F238E27FC236}">
                <a16:creationId xmlns:a16="http://schemas.microsoft.com/office/drawing/2014/main" id="{B20CA2B6-D32F-4981-A8F7-5A210D24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5391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mpact-card-3">
            <a:extLst xmlns:a="http://schemas.openxmlformats.org/drawingml/2006/main">
              <a:ext uri="{FF2B5EF4-FFF2-40B4-BE49-F238E27FC236}">
                <a16:creationId xmlns:a16="http://schemas.microsoft.com/office/drawing/2014/main" id="{7CDBECD7-2FDB-4E5C-A3B0-F9CD37CE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5391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mpact-stat-1">
            <a:extLst xmlns:a="http://schemas.openxmlformats.org/drawingml/2006/main">
              <a:ext uri="{FF2B5EF4-FFF2-40B4-BE49-F238E27FC236}">
                <a16:creationId xmlns:a16="http://schemas.microsoft.com/office/drawing/2014/main" id="{7C06764E-8DA7-4C6A-AB3D-E3F55256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9725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22/22</a:t>
            </a:r>
          </a:p>
        </p:txBody>
      </p:sp>
      <p:sp>
        <p:nvSpPr>
          <p:cNvPr id="7" name="impact-copy-1">
            <a:extLst xmlns:a="http://schemas.openxmlformats.org/drawingml/2006/main">
              <a:ext uri="{FF2B5EF4-FFF2-40B4-BE49-F238E27FC236}">
                <a16:creationId xmlns:a16="http://schemas.microsoft.com/office/drawing/2014/main" id="{AD63A316-2FE7-40C6-8DF5-6EE61190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Tuned offline policy agreement</a:t>
            </a:r>
          </a:p>
        </p:txBody>
      </p:sp>
      <p:sp>
        <p:nvSpPr>
          <p:cNvPr id="8" name="impact-detail-1">
            <a:extLst xmlns:a="http://schemas.openxmlformats.org/drawingml/2006/main">
              <a:ext uri="{FF2B5EF4-FFF2-40B4-BE49-F238E27FC236}">
                <a16:creationId xmlns:a16="http://schemas.microsoft.com/office/drawing/2014/main" id="{BFE8851D-D568-48EF-AEBB-22556E70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85975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Developer-labelled deterministic regression; not live-Qwen accuracy.</a:t>
            </a:r>
          </a:p>
        </p:txBody>
      </p:sp>
      <p:sp>
        <p:nvSpPr>
          <p:cNvPr id="9" name="impact-stat-2">
            <a:extLst xmlns:a="http://schemas.openxmlformats.org/drawingml/2006/main">
              <a:ext uri="{FF2B5EF4-FFF2-40B4-BE49-F238E27FC236}">
                <a16:creationId xmlns:a16="http://schemas.microsoft.com/office/drawing/2014/main" id="{D85CBDC7-6E70-49C3-991F-3760C176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2.4</a:t>
            </a:r>
          </a:p>
        </p:txBody>
      </p:sp>
      <p:sp>
        <p:nvSpPr>
          <p:cNvPr id="10" name="impact-copy-2">
            <a:extLst xmlns:a="http://schemas.openxmlformats.org/drawingml/2006/main">
              <a:ext uri="{FF2B5EF4-FFF2-40B4-BE49-F238E27FC236}">
                <a16:creationId xmlns:a16="http://schemas.microsoft.com/office/drawing/2014/main" id="{266D9424-05C7-454B-8CF5-B19ED98A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Average autonomous evidence steps</a:t>
            </a:r>
          </a:p>
        </p:txBody>
      </p:sp>
      <p:sp>
        <p:nvSpPr>
          <p:cNvPr id="11" name="impact-detail-2">
            <a:extLst xmlns:a="http://schemas.openxmlformats.org/drawingml/2006/main">
              <a:ext uri="{FF2B5EF4-FFF2-40B4-BE49-F238E27FC236}">
                <a16:creationId xmlns:a16="http://schemas.microsoft.com/office/drawing/2014/main" id="{804E466B-C655-4A15-8F3F-1A80FE89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33775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53 total; all 22 scenarios required at least two steps.</a:t>
            </a:r>
          </a:p>
        </p:txBody>
      </p:sp>
      <p:sp>
        <p:nvSpPr>
          <p:cNvPr id="12" name="impact-stat-3">
            <a:extLst xmlns:a="http://schemas.openxmlformats.org/drawingml/2006/main">
              <a:ext uri="{FF2B5EF4-FFF2-40B4-BE49-F238E27FC236}">
                <a16:creationId xmlns:a16="http://schemas.microsoft.com/office/drawing/2014/main" id="{13272FF2-45FF-4EB5-8639-EC44C1B6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74"/>
                </a:solidFill>
                <a:latin typeface="Arial"/>
                <a:ea typeface="Arial"/>
                <a:cs typeface="Arial"/>
              </a:defRPr>
            </a:pPr>
            <a:r>
              <a:t>0/12</a:t>
            </a:r>
          </a:p>
        </p:txBody>
      </p:sp>
      <p:sp>
        <p:nvSpPr>
          <p:cNvPr id="13" name="impact-copy-3">
            <a:extLst xmlns:a="http://schemas.openxmlformats.org/drawingml/2006/main">
              <a:ext uri="{FF2B5EF4-FFF2-40B4-BE49-F238E27FC236}">
                <a16:creationId xmlns:a16="http://schemas.microsoft.com/office/drawing/2014/main" id="{F551FD65-A41C-4B8A-9FAF-90DF561E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Policy-label mismatches in each arm</a:t>
            </a:r>
          </a:p>
        </p:txBody>
      </p:sp>
      <p:sp>
        <p:nvSpPr>
          <p:cNvPr id="14" name="impact-detail-3">
            <a:extLst xmlns:a="http://schemas.openxmlformats.org/drawingml/2006/main">
              <a:ext uri="{FF2B5EF4-FFF2-40B4-BE49-F238E27FC236}">
                <a16:creationId xmlns:a16="http://schemas.microsoft.com/office/drawing/2014/main" id="{C707F19C-8E7F-479E-84B6-1358B89B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81575"/>
            <a:ext cx="3371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0/12 manual vs 0/12 assisted; this does not establish error reduction.</a:t>
            </a:r>
          </a:p>
        </p:txBody>
      </p:sp>
      <p:sp>
        <p:nvSpPr>
          <p:cNvPr id="15" name="impact-caveat">
            <a:extLst xmlns:a="http://schemas.openxmlformats.org/drawingml/2006/main">
              <a:ext uri="{FF2B5EF4-FFF2-40B4-BE49-F238E27FC236}">
                <a16:creationId xmlns:a16="http://schemas.microsoft.com/office/drawing/2014/main" id="{6A3282EC-0643-4965-8394-08946C18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95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Caveat: 12 authored synthetic cases and public task assumptions; not a human study, ROI estimate, throughput result or field trial.</a:t>
            </a:r>
          </a:p>
        </p:txBody>
      </p:sp>
      <p:cxnSp>
        <p:nvCxnSpPr>
          <p:cNvPr id="51" name="impact-grid-0"/>
          <p:cNvCxnSpPr/>
          <p:nvPr/>
        </p:nvCxnSpPr>
        <p:spPr>
          <a:xfrm xmlns:a="http://schemas.openxmlformats.org/drawingml/2006/main">
            <a:off x="914400" y="5191125"/>
            <a:ext cx="4876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7" name="impact-axis-0">
            <a:extLst xmlns:a="http://schemas.openxmlformats.org/drawingml/2006/main">
              <a:ext uri="{FF2B5EF4-FFF2-40B4-BE49-F238E27FC236}">
                <a16:creationId xmlns:a16="http://schemas.microsoft.com/office/drawing/2014/main" id="{6D616A04-E8CF-44BC-A565-E8F2EF35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0.0</a:t>
            </a:r>
          </a:p>
        </p:txBody>
      </p:sp>
      <p:cxnSp>
        <p:nvCxnSpPr>
          <p:cNvPr id="53" name="impact-grid-25"/>
          <p:cNvCxnSpPr/>
          <p:nvPr/>
        </p:nvCxnSpPr>
        <p:spPr>
          <a:xfrm xmlns:a="http://schemas.openxmlformats.org/drawingml/2006/main">
            <a:off x="914400" y="4400550"/>
            <a:ext cx="4876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cxnSp>
      <p:sp>
        <p:nvSpPr>
          <p:cNvPr id="19" name="impact-axis-25">
            <a:extLst xmlns:a="http://schemas.openxmlformats.org/drawingml/2006/main">
              <a:ext uri="{FF2B5EF4-FFF2-40B4-BE49-F238E27FC236}">
                <a16:creationId xmlns:a16="http://schemas.microsoft.com/office/drawing/2014/main" id="{FDEE5F21-C900-4D53-AAD0-3C2490AC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1482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25.0</a:t>
            </a:r>
          </a:p>
        </p:txBody>
      </p:sp>
      <p:cxnSp>
        <p:nvCxnSpPr>
          <p:cNvPr id="55" name="impact-grid-50"/>
          <p:cNvCxnSpPr/>
          <p:nvPr/>
        </p:nvCxnSpPr>
        <p:spPr>
          <a:xfrm xmlns:a="http://schemas.openxmlformats.org/drawingml/2006/main">
            <a:off x="914400" y="3609975"/>
            <a:ext cx="4876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cxnSp>
      <p:sp>
        <p:nvSpPr>
          <p:cNvPr id="21" name="impact-axis-50">
            <a:extLst xmlns:a="http://schemas.openxmlformats.org/drawingml/2006/main">
              <a:ext uri="{FF2B5EF4-FFF2-40B4-BE49-F238E27FC236}">
                <a16:creationId xmlns:a16="http://schemas.microsoft.com/office/drawing/2014/main" id="{007EC4E8-67C4-4876-B854-921D44E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50.0</a:t>
            </a:r>
          </a:p>
        </p:txBody>
      </p:sp>
      <p:cxnSp>
        <p:nvCxnSpPr>
          <p:cNvPr id="57" name="impact-grid-75"/>
          <p:cNvCxnSpPr/>
          <p:nvPr/>
        </p:nvCxnSpPr>
        <p:spPr>
          <a:xfrm xmlns:a="http://schemas.openxmlformats.org/drawingml/2006/main">
            <a:off x="914400" y="2819400"/>
            <a:ext cx="4876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cxnSp>
      <p:sp>
        <p:nvSpPr>
          <p:cNvPr id="23" name="impact-axis-75">
            <a:extLst xmlns:a="http://schemas.openxmlformats.org/drawingml/2006/main">
              <a:ext uri="{FF2B5EF4-FFF2-40B4-BE49-F238E27FC236}">
                <a16:creationId xmlns:a16="http://schemas.microsoft.com/office/drawing/2014/main" id="{C1BF50D0-3A55-42D6-9428-D11C8B2D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75.0</a:t>
            </a:r>
          </a:p>
        </p:txBody>
      </p:sp>
      <p:cxnSp>
        <p:nvCxnSpPr>
          <p:cNvPr id="59" name="impact-grid-100"/>
          <p:cNvCxnSpPr/>
          <p:nvPr/>
        </p:nvCxnSpPr>
        <p:spPr>
          <a:xfrm xmlns:a="http://schemas.openxmlformats.org/drawingml/2006/main">
            <a:off x="914400" y="2028825"/>
            <a:ext cx="48768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cxnSp>
      <p:sp>
        <p:nvSpPr>
          <p:cNvPr id="25" name="impact-axis-100">
            <a:extLst xmlns:a="http://schemas.openxmlformats.org/drawingml/2006/main">
              <a:ext uri="{FF2B5EF4-FFF2-40B4-BE49-F238E27FC236}">
                <a16:creationId xmlns:a16="http://schemas.microsoft.com/office/drawing/2014/main" id="{6FACA4E2-B5CF-44C4-A109-56AB05F1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100.0</a:t>
            </a:r>
          </a:p>
        </p:txBody>
      </p:sp>
      <p:sp>
        <p:nvSpPr>
          <p:cNvPr id="26" name="impact-bar-manual">
            <a:extLst xmlns:a="http://schemas.openxmlformats.org/drawingml/2006/main">
              <a:ext uri="{FF2B5EF4-FFF2-40B4-BE49-F238E27FC236}">
                <a16:creationId xmlns:a16="http://schemas.microsoft.com/office/drawing/2014/main" id="{E2C773B8-F32B-4041-9447-ADA20A1F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28825"/>
            <a:ext cx="952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mpact-value-manual">
            <a:extLst xmlns:a="http://schemas.openxmlformats.org/drawingml/2006/main">
              <a:ext uri="{FF2B5EF4-FFF2-40B4-BE49-F238E27FC236}">
                <a16:creationId xmlns:a16="http://schemas.microsoft.com/office/drawing/2014/main" id="{BCB23301-B9AF-4992-8989-79EF948E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100.0</a:t>
            </a:r>
          </a:p>
        </p:txBody>
      </p:sp>
      <p:sp>
        <p:nvSpPr>
          <p:cNvPr id="28" name="impact-category-manual">
            <a:extLst xmlns:a="http://schemas.openxmlformats.org/drawingml/2006/main">
              <a:ext uri="{FF2B5EF4-FFF2-40B4-BE49-F238E27FC236}">
                <a16:creationId xmlns:a16="http://schemas.microsoft.com/office/drawing/2014/main" id="{11A61C48-65DE-4F27-9218-C4CF4AAC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Manual</a:t>
            </a:r>
          </a:p>
        </p:txBody>
      </p:sp>
      <p:sp>
        <p:nvSpPr>
          <p:cNvPr id="29" name="impact-bar-active-review">
            <a:extLst xmlns:a="http://schemas.openxmlformats.org/drawingml/2006/main">
              <a:ext uri="{FF2B5EF4-FFF2-40B4-BE49-F238E27FC236}">
                <a16:creationId xmlns:a16="http://schemas.microsoft.com/office/drawing/2014/main" id="{DC9D5083-8A09-4CD0-BE57-1699B13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36886"/>
            <a:ext cx="952500" cy="1154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impact-value-active-review">
            <a:extLst xmlns:a="http://schemas.openxmlformats.org/drawingml/2006/main">
              <a:ext uri="{FF2B5EF4-FFF2-40B4-BE49-F238E27FC236}">
                <a16:creationId xmlns:a16="http://schemas.microsoft.com/office/drawing/2014/main" id="{D0DE615D-9D68-4836-9DB0-9A9D0A2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98761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36.5</a:t>
            </a:r>
          </a:p>
        </p:txBody>
      </p:sp>
      <p:sp>
        <p:nvSpPr>
          <p:cNvPr id="31" name="impact-category-active-review">
            <a:extLst xmlns:a="http://schemas.openxmlformats.org/drawingml/2006/main">
              <a:ext uri="{FF2B5EF4-FFF2-40B4-BE49-F238E27FC236}">
                <a16:creationId xmlns:a16="http://schemas.microsoft.com/office/drawing/2014/main" id="{AB2F50E8-B809-4989-A462-283B32C4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Active review</a:t>
            </a:r>
          </a:p>
        </p:txBody>
      </p:sp>
      <p:sp>
        <p:nvSpPr>
          <p:cNvPr id="32" name="impact-bar-checkpoints">
            <a:extLst xmlns:a="http://schemas.openxmlformats.org/drawingml/2006/main">
              <a:ext uri="{FF2B5EF4-FFF2-40B4-BE49-F238E27FC236}">
                <a16:creationId xmlns:a16="http://schemas.microsoft.com/office/drawing/2014/main" id="{8E4B16B1-2029-4268-9510-A4F6CDBE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6991"/>
            <a:ext cx="952500" cy="18341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impact-value-checkpoints">
            <a:extLst xmlns:a="http://schemas.openxmlformats.org/drawingml/2006/main">
              <a:ext uri="{FF2B5EF4-FFF2-40B4-BE49-F238E27FC236}">
                <a16:creationId xmlns:a16="http://schemas.microsoft.com/office/drawing/2014/main" id="{C360FBB1-B647-4627-9E2D-0455A4BC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18866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58.0</a:t>
            </a:r>
          </a:p>
        </p:txBody>
      </p:sp>
      <p:sp>
        <p:nvSpPr>
          <p:cNvPr id="34" name="impact-category-checkpoints">
            <a:extLst xmlns:a="http://schemas.openxmlformats.org/drawingml/2006/main">
              <a:ext uri="{FF2B5EF4-FFF2-40B4-BE49-F238E27FC236}">
                <a16:creationId xmlns:a16="http://schemas.microsoft.com/office/drawing/2014/main" id="{76BA30B3-39A4-4B4D-9461-53A7514D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86375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Checkpoints</a:t>
            </a:r>
          </a:p>
        </p:txBody>
      </p:sp>
      <p:sp>
        <p:nvSpPr>
          <p:cNvPr id="35" name="page-5">
            <a:extLst xmlns:a="http://schemas.openxmlformats.org/drawingml/2006/main">
              <a:ext uri="{FF2B5EF4-FFF2-40B4-BE49-F238E27FC236}">
                <a16:creationId xmlns:a16="http://schemas.microsoft.com/office/drawing/2014/main" id="{7789872C-5015-485C-9E15-C03F23C8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389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69178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8718D129-4988-45A2-806F-F7E91B2D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Production readiness is enforced - not implied.</a:t>
            </a:r>
          </a:p>
        </p:txBody>
      </p:sp>
      <p:sp>
        <p:nvSpPr>
          <p:cNvPr id="2" name="safety-lead">
            <a:extLst xmlns:a="http://schemas.openxmlformats.org/drawingml/2006/main">
              <a:ext uri="{FF2B5EF4-FFF2-40B4-BE49-F238E27FC236}">
                <a16:creationId xmlns:a16="http://schemas.microsoft.com/office/drawing/2014/main" id="{6CD20A91-A1F3-48CE-958D-45B364CD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The model boundary, state machine, configured effects, security gates and hosted stress profile are independently inspectable.</a:t>
            </a:r>
          </a:p>
        </p:txBody>
      </p:sp>
      <p:cxnSp>
        <p:nvCxnSpPr>
          <p:cNvPr id="9" name="footer-rule-6"/>
          <p:cNvCxnSpPr/>
          <p:nvPr/>
        </p:nvCxnSpPr>
        <p:spPr>
          <a:xfrm xmlns:a="http://schemas.openxmlformats.org/drawingml/2006/main">
            <a:off x="400050" y="62865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" name="source-6">
            <a:extLst xmlns:a="http://schemas.openxmlformats.org/drawingml/2006/main">
              <a:ext uri="{FF2B5EF4-FFF2-40B4-BE49-F238E27FC236}">
                <a16:creationId xmlns:a16="http://schemas.microsoft.com/office/drawing/2014/main" id="{E98BFEA5-5958-48D8-9054-F187CE5B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1066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Coverage S/B/F/L 89.83/83.70/88.29/89.83 · latest submission-source gates · runtime 030950e · capture 51f73ae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D1C67CE1-C67B-4C18-8227-9919505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3890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11391900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5924550"/>
                <a:gridCol w="3333750"/>
              </a:tblGrid>
              <a:tr h="708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BOUNDARY</a:t>
                      </a:r>
                    </a:p>
                  </a:txBody>
                  <a:tcPr marL="95250" marR="95250" marT="95250" marB="952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ENFORCED BEHAVIOR</a:t>
                      </a:r>
                    </a:p>
                  </a:txBody>
                  <a:tcPr marL="95250" marR="95250" marT="95250" marB="95250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JUDGE-VERIFIABLE EVIDENCE</a:t>
                      </a:r>
                    </a:p>
                  </a:txBody>
                  <a:tcPr marL="95250" marR="95250" marT="95250" marB="95250" anchor="ctr">
                    <a:solidFill>
                      <a:srgbClr val="0B1220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</a:rPr>
                        <a:t>Model authority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The model catalog exposes proposal/read skills: no approve, reject, pay or terminal sink tool.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</a:rPr>
                        <a:t>MCP catalog + adversarial tests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</a:rPr>
                        <a:t>State transition</a:t>
                      </a:r>
                    </a:p>
                  </a:txBody>
                  <a:tcPr marL="95250" marR="95250" marT="95250" marB="952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An authenticated reviewer atomically claims PENDING → EXECUTING before a decision can reach a sink.</a:t>
                      </a:r>
                    </a:p>
                  </a:txBody>
                  <a:tcPr marL="95250" marR="95250" marT="95250" marB="952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</a:rPr>
                        <a:t>Integration + Playwright E2E</a:t>
                      </a:r>
                    </a:p>
                  </a:txBody>
                  <a:tcPr marL="95250" marR="95250" marT="95250" marB="95250" anchor="ctr">
                    <a:solidFill>
                      <a:srgbClr val="F8FAFC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</a:rPr>
                        <a:t>Configured effects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SMTP transport acceptance and restart-safe JSONL are real; payment and specialist review remain simulated.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</a:rPr>
                        <a:t>Sink/recovery tests + explicit scope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</a:rPr>
                        <a:t>Quality &amp; supply chain</a:t>
                      </a:r>
                    </a:p>
                  </a:txBody>
                  <a:tcPr marL="95250" marR="95250" marT="95250" marB="952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Coverage 89.83 / 83.70 / 88.29 / 89.83, pen tests, CodeQL, immutable image, SBOM and Grype gate.</a:t>
                      </a:r>
                    </a:p>
                  </a:txBody>
                  <a:tcPr marL="95250" marR="95250" marT="95250" marB="9525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</a:rPr>
                        <a:t>Hosted CI and release artifacts</a:t>
                      </a:r>
                    </a:p>
                  </a:txBody>
                  <a:tcPr marL="95250" marR="95250" marT="95250" marB="95250" anchor="ctr">
                    <a:solidFill>
                      <a:srgbClr val="F8FAFC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0"/>
                          </a:solidFill>
                        </a:rPr>
                        <a:t>Hosted ramp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</a:rPr>
                        <a:t>50 VUs · 13,204 requests · 0 failures · 19.37 ms p95 on the isolated application path.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</a:rPr>
                        <a:t>Fake-Qwen + in-memory; not live inference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80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4A201D85-3F56-4476-831C-561F325F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ARCHON AUTOPILOT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B527236-77EA-4333-9665-AD6158C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Autonomy where judgment helps.
Human authority where money moves.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2024062F-6239-497B-9B33-D9F6E95A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Archon turns an untrusted invoice into an auditable proposal, then stops.</a:t>
            </a:r>
          </a:p>
        </p:txBody>
      </p:sp>
      <p:cxnSp>
        <p:nvCxnSpPr>
          <p:cNvPr id="12" name="close-accent-rule"/>
          <p:cNvCxnSpPr/>
          <p:nvPr/>
        </p:nvCxnSpPr>
        <p:spPr>
          <a:xfrm xmlns:a="http://schemas.openxmlformats.org/drawingml/2006/main">
            <a:off x="400050" y="5162550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0F9F74"/>
            </a:solidFill>
            <a:prstDash val="solid"/>
          </a:ln>
        </p:spPr>
      </p:cxnSp>
      <p:sp>
        <p:nvSpPr>
          <p:cNvPr id="5" name="close-promise">
            <a:extLst xmlns:a="http://schemas.openxmlformats.org/drawingml/2006/main">
              <a:ext uri="{FF2B5EF4-FFF2-40B4-BE49-F238E27FC236}">
                <a16:creationId xmlns:a16="http://schemas.microsoft.com/office/drawing/2014/main" id="{001AA0C6-BC77-44DF-A84A-3AF1509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9F74"/>
                </a:solidFill>
                <a:latin typeface="Arial"/>
                <a:ea typeface="Arial"/>
                <a:cs typeface="Arial"/>
              </a:defRPr>
            </a:pPr>
            <a:r>
              <a:t>Qwen proposes · Human decides</a:t>
            </a:r>
          </a:p>
        </p:txBody>
      </p:sp>
      <p:sp>
        <p:nvSpPr>
          <p:cNvPr id="6" name="close-live">
            <a:extLst xmlns:a="http://schemas.openxmlformats.org/drawingml/2006/main">
              <a:ext uri="{FF2B5EF4-FFF2-40B4-BE49-F238E27FC236}">
                <a16:creationId xmlns:a16="http://schemas.microsoft.com/office/drawing/2014/main" id="{C659D937-B87F-4AB5-8959-B2BAD858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67325"/>
            <a:ext cx="569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autopilot.43.106.13.19.sslip.io</a:t>
            </a:r>
          </a:p>
        </p:txBody>
      </p:sp>
      <p:sp>
        <p:nvSpPr>
          <p:cNvPr id="7" name="close-repo">
            <a:extLst xmlns:a="http://schemas.openxmlformats.org/drawingml/2006/main">
              <a:ext uri="{FF2B5EF4-FFF2-40B4-BE49-F238E27FC236}">
                <a16:creationId xmlns:a16="http://schemas.microsoft.com/office/drawing/2014/main" id="{CB448187-37D8-456D-9134-FF0C68C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0225"/>
            <a:ext cx="569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github.com/upgradedev/archon-qwen-autopilot</a:t>
            </a:r>
          </a:p>
        </p:txBody>
      </p:sp>
      <p:sp>
        <p:nvSpPr>
          <p:cNvPr id="8" name="close-sha">
            <a:extLst xmlns:a="http://schemas.openxmlformats.org/drawingml/2006/main">
              <a:ext uri="{FF2B5EF4-FFF2-40B4-BE49-F238E27FC236}">
                <a16:creationId xmlns:a16="http://schemas.microsoft.com/office/drawing/2014/main" id="{5E3CBF3A-CA27-44B1-A6DB-3C22C5E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81700"/>
            <a:ext cx="569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Deployed runtime SHA · 030950e9b1e2</a:t>
            </a:r>
          </a:p>
        </p:txBody>
      </p:sp>
    </p:spTree>
    <p:extLst>
      <p:ext uri="{BB962C8B-B14F-4D97-AF65-F5344CB8AC3E}">
        <p14:creationId xmlns:p14="http://schemas.microsoft.com/office/powerpoint/2010/main" val="50564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2026-07-17T01:26:53.5040000Z</dcterms:created>
  <dcterms:modified xsi:type="dcterms:W3CDTF">2026-07-17T01:26:53.5040000Z</dcterms:modified>
</coreProperties>
</file>